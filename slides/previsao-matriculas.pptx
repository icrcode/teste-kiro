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72A3F"/>
              </a:gs>
              <a:gs pos="100000">
                <a:srgbClr val="0D1B2A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291840" cy="4114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  AWS  · 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Previsão de Demanda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B4D8"/>
                </a:solidFill>
              </a:rPr>
              <a:t>de Vagas por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E8F4"/>
                </a:solidFill>
              </a:rPr>
              <a:t>Pipeline AWS end-to-end · XGBoost · SageMaker · QuickSight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Workshop de Arquiteturas AWS  ·  Kiro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263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5303520" cy="1097280"/>
          </a:xfrm>
          <a:prstGeom prst="rect">
            <a:avLst/>
          </a:prstGeom>
          <a:solidFill>
            <a:srgbClr val="172A3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075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430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Superdimensionamento de vagas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8191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Custo elevado e salas ociosas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313432"/>
            <a:ext cx="5303520" cy="1097280"/>
          </a:xfrm>
          <a:prstGeom prst="rect">
            <a:avLst/>
          </a:prstGeom>
          <a:solidFill>
            <a:srgbClr val="172A3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69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04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Subdimensionamento de vagas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4378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Fila de espera e frustração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75304"/>
            <a:ext cx="5303520" cy="1097280"/>
          </a:xfrm>
          <a:prstGeom prst="rect">
            <a:avLst/>
          </a:prstGeom>
          <a:solidFill>
            <a:srgbClr val="172A3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313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6674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Decisão baseada em intuição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0565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Sem evidências históricas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37176"/>
            <a:ext cx="5303520" cy="1097280"/>
          </a:xfrm>
          <a:prstGeom prst="rect">
            <a:avLst/>
          </a:prstGeom>
          <a:solidFill>
            <a:srgbClr val="172A3F"/>
          </a:solidFill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93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92861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Planejamento reativo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67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Sem antecipação semestral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960120"/>
            <a:ext cx="5303520" cy="5394960"/>
          </a:xfrm>
          <a:prstGeom prst="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0515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✅  A Solução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916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Modelo ML treinado com histórico de matrículas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404872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Horizonte de previsão: 2 semestres à frente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11810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Dados: ENEM, perfil socioeconômico, calendário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3133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Algoritmo principal: XGBoost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5445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Retreinamento automático a cada semestre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8F4"/>
                </a:solidFill>
              </a:rPr>
              <a:t>→  Dashboard para gestores acadêmicos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Fontes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5394960" cy="2194560"/>
          </a:xfrm>
          <a:prstGeom prst="rect">
            <a:avLst/>
          </a:prstGeom>
          <a:solidFill>
            <a:srgbClr val="172A3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188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Histórico de Matrículas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</a:rPr>
              <a:t>Sistema Acadêmico (SIA)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Séries históricas · CSV/Parquet · Freq. semestral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394960" cy="2194560"/>
          </a:xfrm>
          <a:prstGeom prst="rect">
            <a:avLst/>
          </a:prstGeom>
          <a:solidFill>
            <a:srgbClr val="172A3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188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Catálogo de Cursos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6276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9F1C"/>
                </a:solidFill>
              </a:rPr>
              <a:t>Pró-Reitoria de Graduação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Modalidades, capacidades · 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5394960" cy="2194560"/>
          </a:xfrm>
          <a:prstGeom prst="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Perfil dos Alunos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0965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D6A0"/>
                </a:solidFill>
              </a:rPr>
              <a:t>ENEM / Vestibular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Dados demográficos e socioeconômicos · JSON/CSV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566160"/>
            <a:ext cx="5394960" cy="2194560"/>
          </a:xfrm>
          <a:prstGeom prst="rect">
            <a:avLst/>
          </a:prstGeom>
          <a:solidFill>
            <a:srgbClr val="172A3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65760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Calendário Acadêmico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0965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B5DE5"/>
                </a:solidFill>
              </a:rPr>
              <a:t>Secretaria Acadêmica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26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Datas de inscrições e períodos letivos ·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4C8"/>
                </a:solidFill>
              </a:rPr>
              <a:t>9 features selecionadas para o modelo XGBoost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90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curso_id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756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Identificador único do curso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41732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490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periodo_letivo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0756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Semestre/ano do período previsto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41732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5270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14904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historico_demanda_3anos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0756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Média de matrículas dos últimos 3 anos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06324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taxa_evasao_historica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7216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% histórico de evasão por curso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306324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vagas_ofertadas_periodo_anterior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37216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Vagas do semestre imediatamente anterior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306324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3172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14816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nota_corte_enem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4" y="372160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Nota de corte no ENEM por curso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70916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782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DE5"/>
                </a:solidFill>
              </a:rPr>
              <a:t>regiao_geografica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53675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Macroregião da instituição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61688" y="470916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6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4782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DE5"/>
                </a:solidFill>
              </a:rPr>
              <a:t>modalidade_ensino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53675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Presencial · EAD · Híbrido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0456" y="4709160"/>
            <a:ext cx="3657600" cy="1463040"/>
          </a:xfrm>
          <a:prstGeom prst="rect">
            <a:avLst/>
          </a:prstGeom>
          <a:solidFill>
            <a:srgbClr val="172A3F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0184" y="48188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4816" y="4782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</a:rPr>
              <a:t>IDH_municipio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53675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8F4"/>
                </a:solidFill>
              </a:rPr>
              <a:t>Índice de desenvolvimento humano local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554480" cy="960120"/>
          </a:xfrm>
          <a:prstGeom prst="rect">
            <a:avLst/>
          </a:prstGeom>
          <a:noFill/>
          <a:ln w="127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F1C"/>
                </a:solidFill>
              </a:rPr>
              <a:t>INGESTÃO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554480" cy="96012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ETL /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1554480" cy="960120"/>
          </a:xfrm>
          <a:prstGeom prst="rect">
            <a:avLst/>
          </a:prstGeom>
          <a:noFill/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D6A0"/>
                </a:solidFill>
              </a:rPr>
              <a:t>ML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554480" cy="960120"/>
          </a:xfrm>
          <a:prstGeom prst="rect">
            <a:avLst/>
          </a:prstGeom>
          <a:noFill/>
          <a:ln w="127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B5DE5"/>
                </a:solidFill>
              </a:rPr>
              <a:t>OPS / MONITOR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554480" cy="96012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01675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D8"/>
                </a:solidFill>
              </a:rPr>
              <a:t>VISUALIZAÇÃO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00584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13432" y="1060704"/>
            <a:ext cx="475488" cy="274320"/>
          </a:xfrm>
          <a:prstGeom prst="round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13432" y="135331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S3 Raw
(prevmatriculas-dev-raw)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40280" y="219456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13432" y="2249424"/>
            <a:ext cx="475488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Glue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254203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Glue ETL
Feature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6512" y="219456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69664" y="2249424"/>
            <a:ext cx="475488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4" y="254203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S3 Processed
(prevmatriculas-dev-processed)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40280" y="338328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13432" y="3438144"/>
            <a:ext cx="475488" cy="2743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3432" y="373075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SageMaker
Feature Store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96512" y="338328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69664" y="3438144"/>
            <a:ext cx="475488" cy="2743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9664" y="373075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SageMaker
Training (XGBoost)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52744" y="338328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25896" y="3438144"/>
            <a:ext cx="475488" cy="2743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373075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SageMaker
Endpoint (Inferência)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08976" y="338328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82128" y="3438144"/>
            <a:ext cx="475488" cy="27432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8" y="373075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Lambda
Pré-processador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457200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313432" y="4626864"/>
            <a:ext cx="475488" cy="274320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13432" y="491947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SageMaker
Model Monitor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96512" y="457200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69664" y="4626864"/>
            <a:ext cx="475488" cy="274320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9664" y="491947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CloudWatch
Métricas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52744" y="457200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25896" y="4626864"/>
            <a:ext cx="475488" cy="274320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5896" y="491947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EventBridge
Agendador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40280" y="5760720"/>
            <a:ext cx="1691640" cy="914400"/>
          </a:xfrm>
          <a:prstGeom prst="rect">
            <a:avLst/>
          </a:prstGeom>
          <a:solidFill>
            <a:srgbClr val="172A3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313432" y="5815584"/>
            <a:ext cx="475488" cy="2743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QS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13432" y="6108192"/>
            <a:ext cx="15453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QuickSight
Dashboard Gestores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Fontes
Brutos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F1C"/>
                </a:solidFill>
              </a:rPr>
              <a:t>S3 Raw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29868" y="2212848"/>
            <a:ext cx="347472" cy="347472"/>
          </a:xfrm>
          <a:prstGeom prst="round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7068" y="3136392"/>
            <a:ext cx="40233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1388" y="3008376"/>
            <a:ext cx="219456" cy="2743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9F1C"/>
                </a:solidFill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255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ETL
Glue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255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Glue Job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2212848"/>
            <a:ext cx="347472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0188" y="3136392"/>
            <a:ext cx="40233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64508" y="3008376"/>
            <a:ext cx="219456" cy="2743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6567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Feature
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567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D6A0"/>
                </a:solidFill>
              </a:rPr>
              <a:t>SageMaker 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6108" y="2212848"/>
            <a:ext cx="347472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3308" y="3136392"/>
            <a:ext cx="402336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67628" y="3008376"/>
            <a:ext cx="219456" cy="2743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D6A0"/>
                </a:solidFill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6879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Treinar
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6D6A0"/>
                </a:solidFill>
              </a:rPr>
              <a:t>SageMaker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9228" y="2212848"/>
            <a:ext cx="347472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6428" y="3136392"/>
            <a:ext cx="402336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0748" y="3008376"/>
            <a:ext cx="219456" cy="2743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06D6A0"/>
                </a:solidFill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7191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Endpoint
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191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5DE5"/>
                </a:solidFill>
              </a:rPr>
              <a:t>Inferência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2348" y="2212848"/>
            <a:ext cx="347472" cy="347472"/>
          </a:xfrm>
          <a:prstGeom prst="round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99548" y="3136392"/>
            <a:ext cx="402336" cy="54864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73868" y="3008376"/>
            <a:ext cx="219456" cy="2743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9B5DE5"/>
                </a:solidFill>
              </a:rP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75036" y="2377440"/>
            <a:ext cx="1554480" cy="1554480"/>
          </a:xfrm>
          <a:prstGeom prst="roundRect">
            <a:avLst/>
          </a:prstGeom>
          <a:solidFill>
            <a:srgbClr val="172A3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Dashboard
QuickSight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5036" y="404164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Gestores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745468" y="2212848"/>
            <a:ext cx="347472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303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B4C8"/>
                </a:solidFill>
              </a:rPr>
              <a:t>♻  EventBridge dispara retreinamento automático a cada semestre quando MAPE &gt; 15%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de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5303520" cy="5303520"/>
          </a:xfrm>
          <a:prstGeom prst="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A0"/>
                </a:solidFill>
              </a:rPr>
              <a:t>⭐  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B4C8"/>
                </a:solidFill>
              </a:rPr>
              <a:t>Algoritmo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Horizonte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945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 semestres à frente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077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Métrica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90779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MAPE (threshold 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21024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Métricas adicionais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62102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RMSE ·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3425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Instância treino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3342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ml.m5.xlarge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4748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B4C8"/>
                </a:solidFill>
              </a:rPr>
              <a:t>Retreinamento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0474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 cada 180 dias (semestre)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Modelos Alternativos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600200"/>
            <a:ext cx="5029200" cy="1920240"/>
          </a:xfrm>
          <a:prstGeom prst="rect">
            <a:avLst/>
          </a:prstGeom>
          <a:solidFill>
            <a:srgbClr val="172A3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7373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Prophet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4"/>
                </a:solidFill>
              </a:rPr>
              <a:t>Séries temporais com
sazonalidade acadêmica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94760"/>
            <a:ext cx="5029200" cy="1920240"/>
          </a:xfrm>
          <a:prstGeom prst="rect">
            <a:avLst/>
          </a:prstGeom>
          <a:solidFill>
            <a:srgbClr val="172A3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B5DE5"/>
                </a:solidFill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480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8F4"/>
                </a:solidFill>
              </a:rPr>
              <a:t>Padrões sequenciais
complexos e de longo prazo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669280"/>
            <a:ext cx="5029200" cy="777240"/>
          </a:xfrm>
          <a:prstGeom prst="rect">
            <a:avLst/>
          </a:prstGeom>
          <a:solidFill>
            <a:srgbClr val="172A3F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F1C"/>
                </a:solidFill>
              </a:rPr>
              <a:t>⚡  Trigger automático: MAPE &gt; 15% → EventBridge → novo treino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Monitoramento &amp; Operações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53949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</a:rPr>
              <a:t>SageMaker
Model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Detecção de Data Drift
Threshold: 0.1 · Schedule: diário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3949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88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CloudWatch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Alarmes: MAPE alto · Latência endpoint
Data Drift detectado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11880"/>
            <a:ext cx="53949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7033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DE5"/>
                </a:solidFill>
              </a:rPr>
              <a:t>EventBridge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Agendador de retreinamento
Schedule: a cada 180 dias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611880"/>
            <a:ext cx="53949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7033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Lambda Preprocessor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8F4"/>
                </a:solidFill>
              </a:rPr>
              <a:t>Runtime: Python 3.12 · Timeout: 30s
Memória: 512 MB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Esperados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097280"/>
            <a:ext cx="26517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</a:rPr>
              <a:t>&lt;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Erro percentual
absoluto médio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97280"/>
            <a:ext cx="26517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71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2 sem.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Horizonte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97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Previsão antecipada
de demanda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97280"/>
            <a:ext cx="26517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71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9F1C"/>
                </a:solidFill>
              </a:rPr>
              <a:t>180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Retreinamento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Ciclo automático
de atualização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097280"/>
            <a:ext cx="2651760" cy="2286000"/>
          </a:xfrm>
          <a:prstGeom prst="rect">
            <a:avLst/>
          </a:prstGeom>
          <a:solidFill>
            <a:srgbClr val="172A3F"/>
          </a:solidFill>
          <a:ln w="25400">
            <a:solidFill>
              <a:srgbClr val="9B5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3716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9B5DE5"/>
                </a:solidFill>
              </a:rPr>
              <a:t>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402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Confiança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9748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4C8"/>
                </a:solidFill>
              </a:rPr>
              <a:t>Intervalo de confiança
nas previsões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611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Padrões de Nomenclatura AWS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23360"/>
            <a:ext cx="10725912" cy="1905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05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8"/>
                </a:solidFill>
              </a:rPr>
              <a:t>S3 Buckets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1605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prevmatriculas-{env}-{tipo}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F4"/>
                </a:solidFill>
              </a:rPr>
              <a:t>ex: prevmatriculas-prod-raw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54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8"/>
                </a:solidFill>
              </a:rPr>
              <a:t>Glue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754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job-prevmatriculas-{etapa}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754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F4"/>
                </a:solidFill>
              </a:rPr>
              <a:t>ex: job-prevmatriculas-feature-engineering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8"/>
                </a:solidFill>
              </a:rPr>
              <a:t>Modelos 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349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modelo-prevmatriculas-v{versao}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349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F4"/>
                </a:solidFill>
              </a:rPr>
              <a:t>ex: modelo-prevmatriculas-v1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B4C8"/>
                </a:solidFill>
              </a:rPr>
              <a:t>Feature Group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59436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prevmatriculas-features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943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E8F4"/>
                </a:solidFill>
              </a:rPr>
              <a:t>SageMaker Feature Store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172A3F"/>
              </a:gs>
              <a:gs pos="100000">
                <a:srgbClr val="0D1B2A"/>
              </a:gs>
            </a:gsLst>
            <a:lin ang="54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B4D8"/>
                </a:solidFill>
              </a:rPr>
              <a:t>Previsão de Demanda de Vagas por Curso  ·  Pipeline AWS End-to-End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8F4"/>
                </a:solidFill>
              </a:rPr>
              <a:t>☁  S3  ·  Glue  ·  SageMaker  ·  Lambda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50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8F4"/>
                </a:solidFill>
              </a:rPr>
              <a:t>📊  CloudWatch  ·  EventBridge  ·  QuickSight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1713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E8F4"/>
                </a:solidFill>
              </a:rPr>
              <a:t>🤖  XGBoost  ·  MAPE &lt; 15%  ·  2 semestres de horizonte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Workshop Arquiteturas AWS  ·  Kiro IDE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