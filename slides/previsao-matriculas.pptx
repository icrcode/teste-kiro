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 objetivo: usar dados históricos de matrículas e um modelo XGBoost na AWS para antecipar a demanda de vagas por curso em até dois semestres.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roteiro e quanto tempo pretende gastar em cada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Explore cada dor com um exemplo real da instituição: turma cancelada, lista de espera, decisão tomada em reunião sem base histórica e calendário apertado.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fluxo de cima para baixo: os dados chegam no S3, são tratados no Glue, viram features no SageMaker Feature Store, alimentam o treino do XGBoost e a previsão chega ao gestor pelo QuickSight.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Início da seção 1: Dados e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Destaque o crescimento de ADS em 2024 e a tendência de alta em Ciberseg.: é essa série de 3 anos que o XGBoost aprende. Comente que Redes é o curso mais estável.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 a curva prevista acompanha a real até 2024/2 e explique a faixa laranja: o intervalo de confiança de 90%. Os semestres de 2025 são projeções do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que histórico de demanda e vagas anteriores são as variáveis mais fortes, e que fatores externos como IDH e nota de corte refinam a previsão por região.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com as alternativas: Prophet capta sazonalidade, LSTM exige muito mais dados e ARIMA serve de baseline. O XGBoost equilibra precisão, velocidade e interpretabilidade.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Início da seção 2: Arquitetura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 as camadas azuis cuidam do dado e do modelo, e as laranjas da operação: monitorar, alertar e entregar a previsão para os gestores.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Siga o fluxo da esquerda para a direita e reforce o gatilho de retreino: se o MAPE passar de 15%, o EventBridge dispara um novo treinamento sem intervenção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Aponte as semanas 15 e 18, quando o PSI passou do limite de 0,10 e o retreino foi disparado. Em seguida mostre que os KPIs de produção seguem dentro da meta.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com os números-chave e, se houver perguntas técnicas, mostre os padrões de nomenclatura adotados nos recursos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 roteiro de evolução: começar pequeno com um piloto, medir, expandir para a rede e só então incorporar novas fontes e simulações.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Agradeça, abra para perguntas e deixe os contatos visíveis.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jp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11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27.png"/><Relationship Id="rId11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nico_recor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1812805" cy="1554480"/>
          </a:xfrm>
          <a:prstGeom prst="rect">
            <a:avLst/>
          </a:prstGeom>
        </p:spPr>
      </p:pic>
      <p:pic>
        <p:nvPicPr>
          <p:cNvPr id="3" name="Picture 2" descr="s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4215" y="685800"/>
            <a:ext cx="2011680" cy="57251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2743200"/>
            <a:ext cx="1005840" cy="73152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 i="0">
                <a:solidFill>
                  <a:srgbClr val="164194"/>
                </a:solidFill>
                <a:latin typeface="Open Sans"/>
              </a:rPr>
              <a:t>Previsão de Demanda de</a:t>
            </a:r>
          </a:p>
          <a:p>
            <a:pPr algn="l">
              <a:lnSpc>
                <a:spcPct val="95000"/>
              </a:lnSpc>
            </a:pPr>
            <a:r>
              <a:rPr sz="5000" b="1" i="0">
                <a:solidFill>
                  <a:srgbClr val="164194"/>
                </a:solidFill>
                <a:latin typeface="Open Sans"/>
              </a:rPr>
              <a:t>Vagas por 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164194"/>
                </a:solidFill>
                <a:latin typeface="Open Sans"/>
              </a:rPr>
              <a:t>UC: Arquitetura de Soluções com AWS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34924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64194"/>
                </a:solidFill>
                <a:latin typeface="Open Sans"/>
              </a:rPr>
              <a:t>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534924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64194"/>
                </a:solidFill>
                <a:latin typeface="Open Sans"/>
              </a:rPr>
              <a:t>XGBoost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534924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64194"/>
                </a:solidFill>
                <a:latin typeface="Open Sans"/>
              </a:rPr>
              <a:t>SageMaker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3492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64194"/>
                </a:solidFill>
                <a:latin typeface="Open Sans"/>
              </a:rPr>
              <a:t>Machine Learning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2377440" cy="10972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O que vamos ver hoje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2 de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288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Qual é o problema?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4978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527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5527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Como resolvemos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221735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76599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76599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Histórico de matrículas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9456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005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0005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Previsão vs.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6695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24399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724399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Features do modelo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3934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83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4483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O modelo: XGBoost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173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18288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18288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Arquitetura AWS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37376" y="24978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5527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5527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Fluxo de dados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37376" y="3221735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6" y="3276599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0336" y="3276599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Monitoramento 24/7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37376" y="39456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4000500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0336" y="4000500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Resultados esperados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37376" y="46695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37376" y="4724399"/>
            <a:ext cx="731520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E84910"/>
                </a:solidFill>
                <a:latin typeface="Open Sans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0336" y="4724399"/>
            <a:ext cx="4242816" cy="614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64194"/>
                </a:solidFill>
                <a:latin typeface="Open Sans"/>
              </a:rPr>
              <a:t>Próximos passos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37376" y="5393436"/>
            <a:ext cx="5065776" cy="1097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Qual é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Instituições erram ao abrir vagas — e pagam caro por isso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3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464308" cy="3429000"/>
          </a:xfrm>
          <a:prstGeom prst="roundRect">
            <a:avLst>
              <a:gd name="adj" fmla="val 44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21408"/>
            <a:ext cx="822960" cy="82296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ey_off_164194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101" y="2294229"/>
            <a:ext cx="477316" cy="4773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31546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Salas vazias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57600"/>
            <a:ext cx="2007107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Turmas abertas sem demanda real geram custo com docentes, salas e laboratórios ociosos.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1587" y="1828800"/>
            <a:ext cx="2464308" cy="3429000"/>
          </a:xfrm>
          <a:prstGeom prst="roundRect">
            <a:avLst>
              <a:gd name="adj" fmla="val 44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35907" y="2121408"/>
            <a:ext cx="822960" cy="82296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urglass_top_E84910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8729" y="2294229"/>
            <a:ext cx="477316" cy="4773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35907" y="31546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Fila de espera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7" y="3657600"/>
            <a:ext cx="2007107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Cursos procurados esgotam cedo e o aluno migra para outra instituição.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1828800"/>
            <a:ext cx="2464308" cy="3429000"/>
          </a:xfrm>
          <a:prstGeom prst="roundRect">
            <a:avLst>
              <a:gd name="adj" fmla="val 44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74536" y="2121408"/>
            <a:ext cx="822960" cy="82296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sino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357" y="2294229"/>
            <a:ext cx="477316" cy="4773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74536" y="31546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Puro achismo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3657600"/>
            <a:ext cx="2007107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A oferta é definida por percepção da coordenação, sem série histórica estruturada.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8844" y="1828800"/>
            <a:ext cx="2464308" cy="3429000"/>
          </a:xfrm>
          <a:prstGeom prst="roundRect">
            <a:avLst>
              <a:gd name="adj" fmla="val 44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13164" y="2121408"/>
            <a:ext cx="822960" cy="82296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chedule_E84910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5985" y="2294229"/>
            <a:ext cx="477316" cy="47731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313164" y="31546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Gestão reativa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3164" y="3657600"/>
            <a:ext cx="2007107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A demanda só é percebida no período de matrícula, tarde demais para ajustar a oferta.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577840"/>
            <a:ext cx="10680192" cy="640080"/>
          </a:xfrm>
          <a:prstGeom prst="roundRect">
            <a:avLst>
              <a:gd name="adj" fmla="val 18000"/>
            </a:avLst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ightbulb_FFFFFF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5724144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5577840"/>
            <a:ext cx="96743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Solução: XGBoost treinado com histórico real — prevê a demanda 2 semestres à frente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Como resolvemos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Pipeline de Machine Learning ponta a ponta na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4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4206240" cy="4343400"/>
          </a:xfrm>
          <a:prstGeom prst="roundRect">
            <a:avLst>
              <a:gd name="adj" fmla="val 5000"/>
            </a:avLst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1488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XGBoost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834640"/>
            <a:ext cx="1097280" cy="6400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circle_FFFFFF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17296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920" y="3154680"/>
            <a:ext cx="32003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FFFFFF"/>
                </a:solidFill>
                <a:latin typeface="Open Sans"/>
              </a:rPr>
              <a:t>Treinado com histórico real</a:t>
            </a:r>
          </a:p>
        </p:txBody>
      </p:sp>
      <p:pic>
        <p:nvPicPr>
          <p:cNvPr id="14" name="Picture 13" descr="check_circle_FFFFFF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758183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45920" y="3739896"/>
            <a:ext cx="32003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FFFFFF"/>
                </a:solidFill>
                <a:latin typeface="Open Sans"/>
              </a:rPr>
              <a:t>Prevê 2 semestres à frente</a:t>
            </a:r>
          </a:p>
        </p:txBody>
      </p:sp>
      <p:pic>
        <p:nvPicPr>
          <p:cNvPr id="16" name="Picture 15" descr="check_circle_FFFFFF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343400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20" y="4325112"/>
            <a:ext cx="32003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FFFFFF"/>
                </a:solidFill>
                <a:latin typeface="Open Sans"/>
              </a:rPr>
              <a:t>Retreino automático semestral</a:t>
            </a:r>
          </a:p>
        </p:txBody>
      </p:sp>
      <p:pic>
        <p:nvPicPr>
          <p:cNvPr id="18" name="Picture 17" descr="check_circle_FFFFFF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928616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910328"/>
            <a:ext cx="32003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FFFFFF"/>
                </a:solidFill>
                <a:latin typeface="Open Sans"/>
              </a:rPr>
              <a:t>Erro médio (MAPE) &lt; 15%</a:t>
            </a:r>
          </a:p>
        </p:txBody>
      </p:sp>
      <p:pic>
        <p:nvPicPr>
          <p:cNvPr id="20" name="Picture 19" descr="check_circle_FFFFFF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5513831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5920" y="5495544"/>
            <a:ext cx="32003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FFFFFF"/>
                </a:solidFill>
                <a:latin typeface="Open Sans"/>
              </a:rPr>
              <a:t>Dashboard ao vivo para gestores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15584" y="2542032"/>
            <a:ext cx="22860" cy="194309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94960" y="1828800"/>
            <a:ext cx="6108192" cy="71323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59552" y="1929384"/>
            <a:ext cx="512064" cy="51206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loud_upload_164194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085" y="2036917"/>
            <a:ext cx="296997" cy="29699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63640" y="19202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Ingestão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221992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Amazon S3 (raw) · CSVs de matrículas</a:t>
            </a:r>
          </a:p>
        </p:txBody>
      </p:sp>
      <p:sp>
        <p:nvSpPr>
          <p:cNvPr id="28" name="Oval 27"/>
          <p:cNvSpPr/>
          <p:nvPr/>
        </p:nvSpPr>
        <p:spPr>
          <a:xfrm>
            <a:off x="10954512" y="2002536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5584" y="3449574"/>
            <a:ext cx="22860" cy="194309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94960" y="2736341"/>
            <a:ext cx="6108192" cy="71323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59552" y="2836925"/>
            <a:ext cx="512064" cy="51206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leaning_services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7085" y="2944459"/>
            <a:ext cx="296997" cy="29699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263640" y="282778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ETL e limpeza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129534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AWS Glue · Padroniza e trata nulos</a:t>
            </a:r>
          </a:p>
        </p:txBody>
      </p:sp>
      <p:sp>
        <p:nvSpPr>
          <p:cNvPr id="35" name="Oval 34"/>
          <p:cNvSpPr/>
          <p:nvPr/>
        </p:nvSpPr>
        <p:spPr>
          <a:xfrm>
            <a:off x="10954512" y="2910077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15584" y="4357116"/>
            <a:ext cx="22860" cy="194309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394960" y="3643884"/>
            <a:ext cx="6108192" cy="71323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59552" y="3744468"/>
            <a:ext cx="512064" cy="51206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extension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7085" y="3852001"/>
            <a:ext cx="296997" cy="29699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263640" y="373532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Feature engineering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03707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SageMaker Feature Store · Variáveis versionadas</a:t>
            </a:r>
          </a:p>
        </p:txBody>
      </p:sp>
      <p:sp>
        <p:nvSpPr>
          <p:cNvPr id="42" name="Oval 41"/>
          <p:cNvSpPr/>
          <p:nvPr/>
        </p:nvSpPr>
        <p:spPr>
          <a:xfrm>
            <a:off x="10954512" y="3817620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15584" y="5264658"/>
            <a:ext cx="22860" cy="194309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94960" y="4551426"/>
            <a:ext cx="6108192" cy="71323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559552" y="4652010"/>
            <a:ext cx="512064" cy="51206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neurology_164194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7085" y="4759543"/>
            <a:ext cx="296997" cy="29699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263640" y="464286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Treinamento XGBoost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4944618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Amazon SageMaker · Treino e validação</a:t>
            </a:r>
          </a:p>
        </p:txBody>
      </p:sp>
      <p:sp>
        <p:nvSpPr>
          <p:cNvPr id="49" name="Oval 48"/>
          <p:cNvSpPr/>
          <p:nvPr/>
        </p:nvSpPr>
        <p:spPr>
          <a:xfrm>
            <a:off x="10954512" y="4725162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94960" y="5458968"/>
            <a:ext cx="6108192" cy="71323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559552" y="5559552"/>
            <a:ext cx="512064" cy="512064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monitoring_E84910_38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7085" y="5667085"/>
            <a:ext cx="296997" cy="29699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263640" y="555040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Previsão e dashboard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5852159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Amazon QuickSight · Painel de demanda por curso</a:t>
            </a:r>
          </a:p>
        </p:txBody>
      </p:sp>
      <p:sp>
        <p:nvSpPr>
          <p:cNvPr id="55" name="Oval 54"/>
          <p:cNvSpPr/>
          <p:nvPr/>
        </p:nvSpPr>
        <p:spPr>
          <a:xfrm>
            <a:off x="10954512" y="5632704"/>
            <a:ext cx="365760" cy="365760"/>
          </a:xfrm>
          <a:prstGeom prst="ellipse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do_azul_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61288" y="1234440"/>
            <a:ext cx="914400" cy="82296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1417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C9D6F0"/>
                </a:solidFill>
                <a:latin typeface="Open Sans"/>
              </a:rPr>
              <a:t>SEÇÃO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977639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Open Sans"/>
              </a:rPr>
              <a:t>Dados e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8006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C9D6F0"/>
                </a:solidFill>
                <a:latin typeface="Open Sans"/>
              </a:rPr>
              <a:t>Histórico, previsões, features e o XGBoost</a:t>
            </a:r>
          </a:p>
        </p:txBody>
      </p:sp>
      <p:pic>
        <p:nvPicPr>
          <p:cNvPr id="8" name="Picture 7" descr="senai_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2" y="640080"/>
            <a:ext cx="1737360" cy="494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FFFFFF"/>
                </a:solidFill>
                <a:latin typeface="Open Sans"/>
              </a:rPr>
              <a:t>Página 5 de 16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Histórico de matrículas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5 cursos · 3 anos de dados · base para o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6 de 16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37360"/>
            <a:ext cx="7635240" cy="4434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0" y="1828800"/>
            <a:ext cx="2816352" cy="1313687"/>
          </a:xfrm>
          <a:prstGeom prst="roundRect">
            <a:avLst>
              <a:gd name="adj" fmla="val 83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ing_up_E84910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2029968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42832" y="1993392"/>
            <a:ext cx="19019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E84910"/>
                </a:solidFill>
                <a:latin typeface="Open Sans"/>
              </a:rPr>
              <a:t>+23%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2832" y="2606040"/>
            <a:ext cx="2359152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crescimento de ADS entre 2022 e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343655"/>
            <a:ext cx="2816352" cy="1313687"/>
          </a:xfrm>
          <a:prstGeom prst="roundRect">
            <a:avLst>
              <a:gd name="adj" fmla="val 83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hool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6224" y="3544824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42832" y="3508248"/>
            <a:ext cx="19019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64194"/>
                </a:solidFill>
                <a:latin typeface="Open San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832" y="4120895"/>
            <a:ext cx="2359152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cursos técnicos monitorados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858511"/>
            <a:ext cx="2816352" cy="1313687"/>
          </a:xfrm>
          <a:prstGeom prst="roundRect">
            <a:avLst>
              <a:gd name="adj" fmla="val 835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lendar_month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36224" y="5059679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42832" y="5023103"/>
            <a:ext cx="190195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64194"/>
                </a:solidFill>
                <a:latin typeface="Open Sans"/>
              </a:rPr>
              <a:t>3 anos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5635751"/>
            <a:ext cx="2359152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de histórico semestral analisado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Previsão vs.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Modelo XGBoost — curso de ADS, intervalo de confiança de 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7 de 16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37360"/>
            <a:ext cx="7223760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89788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475"/>
                </a:solidFill>
                <a:latin typeface="Open Sans"/>
              </a:rPr>
              <a:t>* 2025/1 e 2025/2 são previsões geradas pelo modelo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27831" cy="4343400"/>
          </a:xfrm>
          <a:prstGeom prst="roundRect">
            <a:avLst>
              <a:gd name="adj" fmla="val 3399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27706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64194"/>
                </a:solidFill>
                <a:latin typeface="Open Sans"/>
              </a:rPr>
              <a:t>Distribuição por modalidade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377440"/>
            <a:ext cx="2953511" cy="2926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03920" y="5349240"/>
            <a:ext cx="2770631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A modalidade de ensino entra como variável do modelo e muda o perfil de demanda de cada curso.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Features do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9 variáveis de entrada e sua importância relativa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8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956816"/>
            <a:ext cx="54864" cy="493775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202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curso_id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40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Identificador único do curso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828800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1956816"/>
            <a:ext cx="54864" cy="493775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19202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periodo_letivo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40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Semestre e ano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27198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855214"/>
            <a:ext cx="54864" cy="493775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1863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historico_demanda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138678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Média móvel de 3 anos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2727198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31920" y="2855214"/>
            <a:ext cx="54864" cy="493775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281863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taxa_evasao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138678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Evasão histórica (%)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625596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753611"/>
            <a:ext cx="54864" cy="493775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3717035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vagas_anteriores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03707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Vagas do semestre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3625596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3753611"/>
            <a:ext cx="54864" cy="493775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3717035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nota_corte_enem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03707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Nota de corte no ENEM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523994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4652009"/>
            <a:ext cx="54864" cy="493775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615433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regiao_geografica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93547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Macrorregião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31920" y="4523994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31920" y="4652009"/>
            <a:ext cx="54864" cy="493775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0520" y="4615433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modalidade_ensino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493547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Presencial, EAD ou híbrido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422392"/>
            <a:ext cx="2926080" cy="749808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5550407"/>
            <a:ext cx="54864" cy="493775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13831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64194"/>
                </a:solidFill>
                <a:latin typeface="Open Sans"/>
              </a:rPr>
              <a:t>idh_municipio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83387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475"/>
                </a:solidFill>
                <a:latin typeface="Open Sans"/>
              </a:rPr>
              <a:t>IDH do município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645920"/>
            <a:ext cx="4507992" cy="45262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O modelo: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Rápido, preciso e interpretável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9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3931920" cy="4343400"/>
          </a:xfrm>
          <a:prstGeom prst="roundRect">
            <a:avLst>
              <a:gd name="adj" fmla="val 5000"/>
            </a:avLst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1488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Open Sans"/>
              </a:rPr>
              <a:t>Parâmetros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743200"/>
            <a:ext cx="1097280" cy="6400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1752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C9D6F0"/>
                </a:solidFill>
                <a:latin typeface="Open Sans"/>
              </a:rPr>
              <a:t>Horizonte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55263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2 semestres à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3016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C9D6F0"/>
                </a:solidFill>
                <a:latin typeface="Open Sans"/>
              </a:rPr>
              <a:t>Erro máximo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67911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MAPE &lt;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42816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C9D6F0"/>
                </a:solidFill>
                <a:latin typeface="Open Sans"/>
              </a:rPr>
              <a:t>Métricas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80559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RMSE · MAE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85546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C9D6F0"/>
                </a:solidFill>
                <a:latin typeface="Open Sans"/>
              </a:rPr>
              <a:t>Instância AWS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093208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ml.m5.xlarge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4681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C9D6F0"/>
                </a:solidFill>
                <a:latin typeface="Open Sans"/>
              </a:rPr>
              <a:t>Retreinamento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705856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A cada 180 dias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83080"/>
            <a:ext cx="3383280" cy="23317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41080" y="1920240"/>
            <a:ext cx="2862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Por que XGBoost?</a:t>
            </a:r>
          </a:p>
        </p:txBody>
      </p:sp>
      <p:pic>
        <p:nvPicPr>
          <p:cNvPr id="24" name="Picture 23" descr="check_circle_E84910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2441448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006840" y="2423160"/>
            <a:ext cx="2496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Treina em minutos</a:t>
            </a:r>
          </a:p>
        </p:txBody>
      </p:sp>
      <p:pic>
        <p:nvPicPr>
          <p:cNvPr id="26" name="Picture 25" descr="check_circle_E84910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2916936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06840" y="2898648"/>
            <a:ext cx="2496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Ótimo com dados tabulares</a:t>
            </a:r>
          </a:p>
        </p:txBody>
      </p:sp>
      <p:pic>
        <p:nvPicPr>
          <p:cNvPr id="28" name="Picture 27" descr="check_circle_E84910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3392424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3374136"/>
            <a:ext cx="2496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Features explicáveis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297680"/>
            <a:ext cx="6428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Alternativas avaliadas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4754880"/>
            <a:ext cx="1990344" cy="1417319"/>
          </a:xfrm>
          <a:prstGeom prst="roundRect">
            <a:avLst>
              <a:gd name="adj" fmla="val 7741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0" y="4937760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Prophet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5349240"/>
            <a:ext cx="1533144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5"/>
                </a:solidFill>
                <a:latin typeface="Open Sans"/>
              </a:rPr>
              <a:t>Sazonalidade acadêmica semestral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93864" y="4754880"/>
            <a:ext cx="1990344" cy="1417319"/>
          </a:xfrm>
          <a:prstGeom prst="roundRect">
            <a:avLst>
              <a:gd name="adj" fmla="val 7741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2464" y="4937760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LSTM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2464" y="5349240"/>
            <a:ext cx="1533144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5"/>
                </a:solidFill>
                <a:latin typeface="Open Sans"/>
              </a:rPr>
              <a:t>Padrões complexos de longo prazo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12808" y="4754880"/>
            <a:ext cx="1990344" cy="1417319"/>
          </a:xfrm>
          <a:prstGeom prst="roundRect">
            <a:avLst>
              <a:gd name="adj" fmla="val 7741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41408" y="4937760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ARIMA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41408" y="5349240"/>
            <a:ext cx="1533144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475"/>
                </a:solidFill>
                <a:latin typeface="Open Sans"/>
              </a:rPr>
              <a:t>Baseline estatístico de comparação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do_azul_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61288" y="1234440"/>
            <a:ext cx="914400" cy="82296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1417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C9D6F0"/>
                </a:solidFill>
                <a:latin typeface="Open Sans"/>
              </a:rPr>
              <a:t>SEÇÃO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977639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Open Sans"/>
              </a:rPr>
              <a:t>Arquitetura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8006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C9D6F0"/>
                </a:solidFill>
                <a:latin typeface="Open Sans"/>
              </a:rPr>
              <a:t>Camadas, fluxo de dados e monitoramento</a:t>
            </a:r>
          </a:p>
        </p:txBody>
      </p:sp>
      <p:pic>
        <p:nvPicPr>
          <p:cNvPr id="8" name="Picture 7" descr="senai_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2" y="640080"/>
            <a:ext cx="1737360" cy="494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FFFFFF"/>
                </a:solidFill>
                <a:latin typeface="Open Sans"/>
              </a:rPr>
              <a:t>Página 10 de 16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Arquitetura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Do dado bruto à decisão — todas as camadas em um olhar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11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938528"/>
            <a:ext cx="54864" cy="384048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920240"/>
            <a:ext cx="420624" cy="42062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tabase_164194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91" y="2008571"/>
            <a:ext cx="243961" cy="2439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920" y="1828800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Ingestão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828800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S3 Raw · bucket prevmatriculas-dev-raw recebe os CSVs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576779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2686507"/>
            <a:ext cx="54864" cy="384048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668219"/>
            <a:ext cx="420624" cy="42062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leaning_services_164194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891" y="2756550"/>
            <a:ext cx="243961" cy="2439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2576779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ETL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576779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Glue ETL limpa e grava no S3 Processed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324758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3434486"/>
            <a:ext cx="54864" cy="384048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3416198"/>
            <a:ext cx="420624" cy="42062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tension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9891" y="3504529"/>
            <a:ext cx="243961" cy="24396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45920" y="3324758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Feature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24758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SageMaker Feature Store · grupo prevmatriculas-features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072737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182465"/>
            <a:ext cx="54864" cy="384048"/>
          </a:xfrm>
          <a:prstGeom prst="rect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4164177"/>
            <a:ext cx="420624" cy="420624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neurology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891" y="4252508"/>
            <a:ext cx="243961" cy="24396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45920" y="4072737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ML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72737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SageMaker treina o XGBoost e publica um endpoint REST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820716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4930444"/>
            <a:ext cx="54864" cy="38404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51560" y="4912156"/>
            <a:ext cx="420624" cy="420624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ifications_active_E84910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9891" y="5000487"/>
            <a:ext cx="243961" cy="24396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645920" y="4820716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Operação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820716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Model Monitor, CloudWatch e EventBridge vigiam e retreinam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568696"/>
            <a:ext cx="10680192" cy="603504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" y="5678424"/>
            <a:ext cx="54864" cy="38404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51560" y="5660136"/>
            <a:ext cx="420624" cy="420624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dashboard_E84910_38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9891" y="5748467"/>
            <a:ext cx="243961" cy="243961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45920" y="5568696"/>
            <a:ext cx="23774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Visualização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568696"/>
            <a:ext cx="71140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B6475"/>
                </a:solidFill>
                <a:latin typeface="Open Sans"/>
              </a:rPr>
              <a:t>QuickSight entrega o painel aos gestores acadêmicos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Fluxo de 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Do CSV ao dashboard em 6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12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2915" y="2395727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_164194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535" y="2549347"/>
            <a:ext cx="424281" cy="42428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6112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S3 Raw</a:t>
            </a:r>
          </a:p>
        </p:txBody>
      </p:sp>
      <p:sp>
        <p:nvSpPr>
          <p:cNvPr id="13" name="Oval 12"/>
          <p:cNvSpPr/>
          <p:nvPr/>
        </p:nvSpPr>
        <p:spPr>
          <a:xfrm>
            <a:off x="2081784" y="1975103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CSVs de matrículas chegam ao bucket raw</a:t>
            </a:r>
          </a:p>
        </p:txBody>
      </p:sp>
      <p:pic>
        <p:nvPicPr>
          <p:cNvPr id="15" name="Picture 14" descr="arrow_forward_5B6475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2680" y="2921508"/>
            <a:ext cx="237744" cy="23774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648712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58668" y="2395727"/>
            <a:ext cx="731520" cy="73152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leaning_services_E84910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2287" y="254934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21864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Glue ETL</a:t>
            </a:r>
          </a:p>
        </p:txBody>
      </p:sp>
      <p:sp>
        <p:nvSpPr>
          <p:cNvPr id="20" name="Oval 19"/>
          <p:cNvSpPr/>
          <p:nvPr/>
        </p:nvSpPr>
        <p:spPr>
          <a:xfrm>
            <a:off x="3907535" y="1975103"/>
            <a:ext cx="365760" cy="365760"/>
          </a:xfrm>
          <a:prstGeom prst="ellipse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8712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Limpeza, tipagem e junção das fontes</a:t>
            </a:r>
          </a:p>
        </p:txBody>
      </p:sp>
      <p:pic>
        <p:nvPicPr>
          <p:cNvPr id="22" name="Picture 21" descr="arrow_forward_5B6475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8431" y="2921508"/>
            <a:ext cx="237744" cy="2377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474464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84420" y="2395727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tension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8039" y="2549347"/>
            <a:ext cx="424281" cy="42428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547616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Feature Store</a:t>
            </a:r>
          </a:p>
        </p:txBody>
      </p:sp>
      <p:sp>
        <p:nvSpPr>
          <p:cNvPr id="27" name="Oval 26"/>
          <p:cNvSpPr/>
          <p:nvPr/>
        </p:nvSpPr>
        <p:spPr>
          <a:xfrm>
            <a:off x="5733288" y="1975103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4464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Variáveis calculadas e versionadas</a:t>
            </a:r>
          </a:p>
        </p:txBody>
      </p:sp>
      <p:pic>
        <p:nvPicPr>
          <p:cNvPr id="29" name="Picture 28" descr="arrow_forward_5B6475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4183" y="2921508"/>
            <a:ext cx="237744" cy="237744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300216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10172" y="2395727"/>
            <a:ext cx="731520" cy="73152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eurology_E84910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3791" y="2549347"/>
            <a:ext cx="424281" cy="42428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73368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SageMaker</a:t>
            </a:r>
          </a:p>
        </p:txBody>
      </p:sp>
      <p:sp>
        <p:nvSpPr>
          <p:cNvPr id="34" name="Oval 33"/>
          <p:cNvSpPr/>
          <p:nvPr/>
        </p:nvSpPr>
        <p:spPr>
          <a:xfrm>
            <a:off x="7559040" y="1975103"/>
            <a:ext cx="365760" cy="365760"/>
          </a:xfrm>
          <a:prstGeom prst="ellipse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216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Treino com validação cruzada</a:t>
            </a:r>
          </a:p>
        </p:txBody>
      </p:sp>
      <p:pic>
        <p:nvPicPr>
          <p:cNvPr id="36" name="Picture 35" descr="arrow_forward_5B6475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9936" y="2921508"/>
            <a:ext cx="237744" cy="237744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8125968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35924" y="2395727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pi_164194_38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9543" y="2549347"/>
            <a:ext cx="424281" cy="42428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99120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Endpoint</a:t>
            </a:r>
          </a:p>
        </p:txBody>
      </p:sp>
      <p:sp>
        <p:nvSpPr>
          <p:cNvPr id="41" name="Oval 40"/>
          <p:cNvSpPr/>
          <p:nvPr/>
        </p:nvSpPr>
        <p:spPr>
          <a:xfrm>
            <a:off x="9384792" y="1975103"/>
            <a:ext cx="365760" cy="365760"/>
          </a:xfrm>
          <a:prstGeom prst="ellipse">
            <a:avLst/>
          </a:pr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5968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Previsões sob demanda via API</a:t>
            </a:r>
          </a:p>
        </p:txBody>
      </p:sp>
      <p:pic>
        <p:nvPicPr>
          <p:cNvPr id="43" name="Picture 42" descr="arrow_forward_5B6475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5688" y="2921508"/>
            <a:ext cx="237744" cy="237744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951720" y="2103120"/>
            <a:ext cx="1551432" cy="1874519"/>
          </a:xfrm>
          <a:prstGeom prst="roundRect">
            <a:avLst>
              <a:gd name="adj" fmla="val 7072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361676" y="2395727"/>
            <a:ext cx="731520" cy="73152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shboard_E84910_38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5295" y="2549347"/>
            <a:ext cx="424281" cy="42428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024872" y="3291839"/>
            <a:ext cx="14051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164194"/>
                </a:solidFill>
                <a:latin typeface="Open Sans"/>
              </a:rPr>
              <a:t>QuickSight</a:t>
            </a:r>
          </a:p>
        </p:txBody>
      </p:sp>
      <p:sp>
        <p:nvSpPr>
          <p:cNvPr id="48" name="Oval 47"/>
          <p:cNvSpPr/>
          <p:nvPr/>
        </p:nvSpPr>
        <p:spPr>
          <a:xfrm>
            <a:off x="11210544" y="1975103"/>
            <a:ext cx="365760" cy="365760"/>
          </a:xfrm>
          <a:prstGeom prst="ellipse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51720" y="4114800"/>
            <a:ext cx="15514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B6475"/>
                </a:solidFill>
                <a:latin typeface="Open Sans"/>
              </a:rPr>
              <a:t>Painel para os gestores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5486400"/>
            <a:ext cx="10680192" cy="6858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" y="5614416"/>
            <a:ext cx="54864" cy="429768"/>
          </a:xfrm>
          <a:prstGeom prst="rect">
            <a:avLst/>
          </a:pr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olt_E84910_38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5650992"/>
            <a:ext cx="365760" cy="3657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45920" y="5486400"/>
            <a:ext cx="958291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64194"/>
                </a:solidFill>
                <a:latin typeface="Open Sans"/>
              </a:rPr>
              <a:t>EventBridge dispara retreinamento automático quando o MAPE passa de 15%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Monitoramento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O modelo fica em produção e precisa ser vigiado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13 de 16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37360"/>
            <a:ext cx="7178040" cy="30632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83880" y="1828800"/>
            <a:ext cx="1568195" cy="1394460"/>
          </a:xfrm>
          <a:prstGeom prst="roundRect">
            <a:avLst>
              <a:gd name="adj" fmla="val 7868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uery_stats_164194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2011680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60" y="2450592"/>
            <a:ext cx="12938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64194"/>
                </a:solidFill>
                <a:latin typeface="Open Sans"/>
              </a:rPr>
              <a:t>Model 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724912"/>
            <a:ext cx="1293875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6475"/>
                </a:solidFill>
                <a:latin typeface="Open Sans"/>
              </a:rPr>
              <a:t>Detecta drift (limite 0,10)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34956" y="1828800"/>
            <a:ext cx="1568195" cy="1394460"/>
          </a:xfrm>
          <a:prstGeom prst="roundRect">
            <a:avLst>
              <a:gd name="adj" fmla="val 7868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otifications_active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7836" y="2011680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17836" y="2450592"/>
            <a:ext cx="12938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64194"/>
                </a:solidFill>
                <a:latin typeface="Open Sans"/>
              </a:rPr>
              <a:t>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7836" y="2724912"/>
            <a:ext cx="1293875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6475"/>
                </a:solidFill>
                <a:latin typeface="Open Sans"/>
              </a:rPr>
              <a:t>Alarmes de MAPE e latência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06139"/>
            <a:ext cx="1568195" cy="1394460"/>
          </a:xfrm>
          <a:prstGeom prst="roundRect">
            <a:avLst>
              <a:gd name="adj" fmla="val 7868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ent_repeat_E84910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3589020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60" y="4027931"/>
            <a:ext cx="12938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64194"/>
                </a:solidFill>
                <a:latin typeface="Open Sans"/>
              </a:rPr>
              <a:t>EventBridge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302252"/>
            <a:ext cx="1293875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6475"/>
                </a:solidFill>
                <a:latin typeface="Open Sans"/>
              </a:rPr>
              <a:t>Retreino a cada 180 dias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34956" y="3406139"/>
            <a:ext cx="1568195" cy="1394460"/>
          </a:xfrm>
          <a:prstGeom prst="roundRect">
            <a:avLst>
              <a:gd name="adj" fmla="val 7868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unctions_E84910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7836" y="3589020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117836" y="4027931"/>
            <a:ext cx="12938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64194"/>
                </a:solidFill>
                <a:latin typeface="Open Sans"/>
              </a:rPr>
              <a:t>Lambda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7836" y="4302252"/>
            <a:ext cx="1293875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6475"/>
                </a:solidFill>
                <a:latin typeface="Open Sans"/>
              </a:rPr>
              <a:t>Pré-processamento Python 3.12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92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64194"/>
                </a:solidFill>
                <a:latin typeface="Open Sans"/>
              </a:rPr>
              <a:t>KPIs em produção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5166360"/>
            <a:ext cx="10680192" cy="100583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Resultados esperados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O que o modelo entrega na prática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14 de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46430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057400"/>
            <a:ext cx="502920" cy="50292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_E84910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73" y="2163013"/>
            <a:ext cx="291693" cy="29169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1560" y="2560320"/>
            <a:ext cx="2007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E84910"/>
                </a:solidFill>
                <a:latin typeface="Open Sans"/>
              </a:rPr>
              <a:t>&lt; 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20071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Erro médio (MAPE)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1587" y="1828800"/>
            <a:ext cx="246430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90187" y="2057400"/>
            <a:ext cx="502920" cy="5029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ate_range_164194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801" y="2163013"/>
            <a:ext cx="291693" cy="291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90187" y="2560320"/>
            <a:ext cx="2007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64194"/>
                </a:solidFill>
                <a:latin typeface="Open Sans"/>
              </a:rPr>
              <a:t>2 sem.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0187" y="3063240"/>
            <a:ext cx="20071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Horizonte de previsão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1828800"/>
            <a:ext cx="246430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28816" y="2057400"/>
            <a:ext cx="502920" cy="5029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vent_repeat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4429" y="2163013"/>
            <a:ext cx="291693" cy="29169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28816" y="2560320"/>
            <a:ext cx="2007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64194"/>
                </a:solidFill>
                <a:latin typeface="Open Sans"/>
              </a:rPr>
              <a:t>180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3063240"/>
            <a:ext cx="20071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Ciclo de retreino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8844" y="1828800"/>
            <a:ext cx="246430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67444" y="2057400"/>
            <a:ext cx="502920" cy="5029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erified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3057" y="2163013"/>
            <a:ext cx="291693" cy="29169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67444" y="2560320"/>
            <a:ext cx="2007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64194"/>
                </a:solidFill>
                <a:latin typeface="Open Sans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7444" y="3063240"/>
            <a:ext cx="20071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475"/>
                </a:solidFill>
                <a:latin typeface="Open Sans"/>
              </a:rPr>
              <a:t>Intervalo de confiança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4194"/>
                </a:solidFill>
                <a:latin typeface="Open Sans"/>
              </a:rPr>
              <a:t>Padrões de nomenclatura AWS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160520"/>
            <a:ext cx="10680192" cy="46177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4160520"/>
            <a:ext cx="23774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64194"/>
                </a:solidFill>
                <a:latin typeface="Open Sans"/>
              </a:rPr>
              <a:t>S3 Buckets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160520"/>
            <a:ext cx="393192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E2A44"/>
                </a:solidFill>
                <a:latin typeface="Open Sans"/>
              </a:rPr>
              <a:t>prevmatriculas-{env}-{tipo}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160520"/>
            <a:ext cx="3730752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5B6475"/>
                </a:solidFill>
                <a:latin typeface="Open Sans"/>
              </a:rPr>
              <a:t>prevmatriculas-prod-raw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677156"/>
            <a:ext cx="10680192" cy="46177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677156"/>
            <a:ext cx="23774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64194"/>
                </a:solidFill>
                <a:latin typeface="Open Sans"/>
              </a:rPr>
              <a:t>Glue Jobs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677156"/>
            <a:ext cx="393192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E2A44"/>
                </a:solidFill>
                <a:latin typeface="Open Sans"/>
              </a:rPr>
              <a:t>job-prevmatriculas-{etapa}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77156"/>
            <a:ext cx="3730752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5B6475"/>
                </a:solidFill>
                <a:latin typeface="Open Sans"/>
              </a:rPr>
              <a:t>job-prevmatriculas-feature-engineering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93792"/>
            <a:ext cx="10680192" cy="46177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193792"/>
            <a:ext cx="23774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64194"/>
                </a:solidFill>
                <a:latin typeface="Open Sans"/>
              </a:rPr>
              <a:t>Modelos SageMaker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193792"/>
            <a:ext cx="393192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E2A44"/>
                </a:solidFill>
                <a:latin typeface="Open Sans"/>
              </a:rPr>
              <a:t>modelo-prevmatriculas-v{versao}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5193792"/>
            <a:ext cx="3730752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5B6475"/>
                </a:solidFill>
                <a:latin typeface="Open Sans"/>
              </a:rPr>
              <a:t>modelo-prevmatriculas-v1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10427"/>
            <a:ext cx="10680192" cy="461772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710427"/>
            <a:ext cx="23774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64194"/>
                </a:solidFill>
                <a:latin typeface="Open Sans"/>
              </a:rPr>
              <a:t>Feature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5710427"/>
            <a:ext cx="393192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E2A44"/>
                </a:solidFill>
                <a:latin typeface="Open Sans"/>
              </a:rPr>
              <a:t>prevmatriculas-features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5710427"/>
            <a:ext cx="3730752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5B6475"/>
                </a:solidFill>
                <a:latin typeface="Open Sans"/>
              </a:rPr>
              <a:t>SageMaker Feature Store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457200" cy="1097280"/>
          </a:xfrm>
          <a:custGeom>
            <a:avLst/>
            <a:gdLst/>
            <a:ahLst/>
            <a:cxnLst/>
            <a:rect l="l" t="t" r="r" b="b"/>
            <a:pathLst>
              <a:path w="457200" h="1097280">
                <a:moveTo>
                  <a:pt x="0" y="0"/>
                </a:moveTo>
                <a:lnTo>
                  <a:pt x="457200" y="0"/>
                </a:lnTo>
                <a:lnTo>
                  <a:pt x="457200" y="777240"/>
                </a:lnTo>
                <a:lnTo>
                  <a:pt x="0" y="1097280"/>
                </a:lnTo>
                <a:close/>
              </a:path>
            </a:pathLst>
          </a:custGeom>
          <a:solidFill>
            <a:srgbClr val="E84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777240"/>
            <a:ext cx="457200" cy="868680"/>
          </a:xfrm>
          <a:custGeom>
            <a:avLst/>
            <a:gdLst/>
            <a:ahLst/>
            <a:cxnLst/>
            <a:rect l="l" t="t" r="r" b="b"/>
            <a:pathLst>
              <a:path w="457200" h="868680">
                <a:moveTo>
                  <a:pt x="0" y="320040"/>
                </a:moveTo>
                <a:lnTo>
                  <a:pt x="457200" y="0"/>
                </a:lnTo>
                <a:lnTo>
                  <a:pt x="457200" y="548640"/>
                </a:lnTo>
                <a:lnTo>
                  <a:pt x="0" y="8686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325880"/>
            <a:ext cx="457200" cy="5532120"/>
          </a:xfrm>
          <a:custGeom>
            <a:avLst/>
            <a:gdLst/>
            <a:ahLst/>
            <a:cxnLst/>
            <a:rect l="l" t="t" r="r" b="b"/>
            <a:pathLst>
              <a:path w="457200" h="5532120">
                <a:moveTo>
                  <a:pt x="0" y="320040"/>
                </a:moveTo>
                <a:lnTo>
                  <a:pt x="457200" y="0"/>
                </a:lnTo>
                <a:lnTo>
                  <a:pt x="457200" y="5532120"/>
                </a:lnTo>
                <a:lnTo>
                  <a:pt x="0" y="5532120"/>
                </a:lnTo>
                <a:close/>
              </a:path>
            </a:pathLst>
          </a:custGeom>
          <a:solidFill>
            <a:srgbClr val="1641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566928"/>
            <a:ext cx="1463040" cy="416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7782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164194"/>
                </a:solidFill>
                <a:latin typeface="Open Sans"/>
              </a:rPr>
              <a:t>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475"/>
                </a:solidFill>
                <a:latin typeface="Open Sans"/>
              </a:rPr>
              <a:t>Roteiro de evolução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164194"/>
                </a:solidFill>
                <a:latin typeface="Open Sans"/>
              </a:rPr>
              <a:t>Página 15 de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5114" y="2958084"/>
            <a:ext cx="8215883" cy="27432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24643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E84910"/>
                </a:solidFill>
                <a:latin typeface="Open Sans"/>
              </a:rPr>
              <a:t>FASE 1</a:t>
            </a:r>
          </a:p>
        </p:txBody>
      </p:sp>
      <p:sp>
        <p:nvSpPr>
          <p:cNvPr id="11" name="Oval 10"/>
          <p:cNvSpPr/>
          <p:nvPr/>
        </p:nvSpPr>
        <p:spPr>
          <a:xfrm>
            <a:off x="1643634" y="25603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9354" y="2606040"/>
            <a:ext cx="731520" cy="731520"/>
          </a:xfrm>
          <a:prstGeom prst="ellipse">
            <a:avLst/>
          </a:prstGeom>
          <a:solidFill>
            <a:srgbClr val="F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g_E84910_3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2973" y="2759659"/>
            <a:ext cx="424281" cy="42428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22960" y="3657600"/>
            <a:ext cx="2464308" cy="2148840"/>
          </a:xfrm>
          <a:prstGeom prst="roundRect">
            <a:avLst>
              <a:gd name="adj" fmla="val 5106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8404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43400"/>
            <a:ext cx="2007107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5 cursos técnicos com acompanhamento semestral do erro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587" y="2103120"/>
            <a:ext cx="24643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E84910"/>
                </a:solidFill>
                <a:latin typeface="Open Sans"/>
              </a:rPr>
              <a:t>FASE 2</a:t>
            </a:r>
          </a:p>
        </p:txBody>
      </p:sp>
      <p:sp>
        <p:nvSpPr>
          <p:cNvPr id="18" name="Oval 17"/>
          <p:cNvSpPr/>
          <p:nvPr/>
        </p:nvSpPr>
        <p:spPr>
          <a:xfrm>
            <a:off x="4382262" y="25603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27981" y="2606040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hub_164194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601" y="2759659"/>
            <a:ext cx="424281" cy="42428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561587" y="3657600"/>
            <a:ext cx="2464308" cy="2148840"/>
          </a:xfrm>
          <a:prstGeom prst="roundRect">
            <a:avLst>
              <a:gd name="adj" fmla="val 5106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90187" y="38404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Expansão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0187" y="4343400"/>
            <a:ext cx="2007107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Todas as unidades da rede usando o mesmo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103120"/>
            <a:ext cx="24643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E84910"/>
                </a:solidFill>
                <a:latin typeface="Open Sans"/>
              </a:rPr>
              <a:t>FASE 3</a:t>
            </a:r>
          </a:p>
        </p:txBody>
      </p:sp>
      <p:sp>
        <p:nvSpPr>
          <p:cNvPr id="25" name="Oval 24"/>
          <p:cNvSpPr/>
          <p:nvPr/>
        </p:nvSpPr>
        <p:spPr>
          <a:xfrm>
            <a:off x="7120889" y="25603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66609" y="2606040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ataset_164194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0229" y="2759659"/>
            <a:ext cx="424281" cy="424281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00216" y="3657600"/>
            <a:ext cx="2464308" cy="2148840"/>
          </a:xfrm>
          <a:prstGeom prst="roundRect">
            <a:avLst>
              <a:gd name="adj" fmla="val 5106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8404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Novas fontes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4343400"/>
            <a:ext cx="2007107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Dados socioeconômicos e de mercado de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8844" y="2103120"/>
            <a:ext cx="24643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E84910"/>
                </a:solidFill>
                <a:latin typeface="Open Sans"/>
              </a:rPr>
              <a:t>FASE 4</a:t>
            </a:r>
          </a:p>
        </p:txBody>
      </p:sp>
      <p:sp>
        <p:nvSpPr>
          <p:cNvPr id="32" name="Oval 31"/>
          <p:cNvSpPr/>
          <p:nvPr/>
        </p:nvSpPr>
        <p:spPr>
          <a:xfrm>
            <a:off x="9859518" y="25603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05238" y="2606040"/>
            <a:ext cx="731520" cy="731520"/>
          </a:xfrm>
          <a:prstGeom prst="ellipse">
            <a:avLst/>
          </a:prstGeom>
          <a:solidFill>
            <a:srgbClr val="E6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une_164194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857" y="2759659"/>
            <a:ext cx="424281" cy="424281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9038844" y="3657600"/>
            <a:ext cx="2464308" cy="2148840"/>
          </a:xfrm>
          <a:prstGeom prst="roundRect">
            <a:avLst>
              <a:gd name="adj" fmla="val 5106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7444" y="3840480"/>
            <a:ext cx="20071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64194"/>
                </a:solidFill>
                <a:latin typeface="Open Sans"/>
              </a:rPr>
              <a:t>Simulação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7444" y="4343400"/>
            <a:ext cx="2007107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B6475"/>
                </a:solidFill>
                <a:latin typeface="Open Sans"/>
              </a:rPr>
              <a:t>Painel de cenários para testar ofertas de vagas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do_azul_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ai_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788920"/>
            <a:ext cx="4206240" cy="119707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847" y="1783080"/>
            <a:ext cx="18288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98767" y="16002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Open Sans"/>
              </a:rPr>
              <a:t>Obrigado!</a:t>
            </a:r>
          </a:p>
        </p:txBody>
      </p:sp>
      <p:pic>
        <p:nvPicPr>
          <p:cNvPr id="6" name="Picture 5" descr="location_on_FFFFFF_3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57860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5967" y="2560320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Open Sans"/>
              </a:rPr>
              <a:t>Rodovia Admar Gonzaga, 2765 | Itacorubi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Open Sans"/>
              </a:rPr>
              <a:t>88034-001 | Florianópolis - SC</a:t>
            </a:r>
          </a:p>
        </p:txBody>
      </p:sp>
      <p:pic>
        <p:nvPicPr>
          <p:cNvPr id="8" name="Picture 7" descr="language_E84910_3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383279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55967" y="3364991"/>
            <a:ext cx="48463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FFFFFF"/>
                </a:solidFill>
                <a:latin typeface="Open Sans"/>
              </a:rPr>
              <a:t>sc.senai.br</a:t>
            </a:r>
          </a:p>
        </p:txBody>
      </p:sp>
      <p:pic>
        <p:nvPicPr>
          <p:cNvPr id="10" name="Picture 9" descr="mail_FFFFFF_38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8767" y="3886199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55967" y="3867911"/>
            <a:ext cx="48463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Open Sans"/>
              </a:rPr>
              <a:t>faleconosco@fiesc.com.br</a:t>
            </a:r>
          </a:p>
        </p:txBody>
      </p:sp>
      <p:pic>
        <p:nvPicPr>
          <p:cNvPr id="12" name="Picture 11" descr="call_FFFFFF_38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8767" y="4389119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55967" y="4370831"/>
            <a:ext cx="48463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Open Sans"/>
              </a:rPr>
              <a:t>(48) 3231 4100  ·  0800 048 1212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9952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50" b="0" i="1">
                <a:solidFill>
                  <a:srgbClr val="FFFFFF"/>
                </a:solidFill>
                <a:latin typeface="Open Sans"/>
              </a:rPr>
              <a:t>Página 16 de 16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