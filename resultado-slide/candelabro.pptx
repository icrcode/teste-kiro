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o candelabro como elemento decorativo e funcional presente em lares ao redor do mundo.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que o candelabro evoluiu de ferramenta de iluminação para símbolo de estilo e elegância.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Destaque que a escolha depende do espaço e da intenção decorativa do ambiente.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Reforce as normas de segurança com velas — é o ponto mais crítico do uso doméstico.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 e contatos.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cnico_recort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48640"/>
            <a:ext cx="1812805" cy="1554480"/>
          </a:xfrm>
          <a:prstGeom prst="rect">
            <a:avLst/>
          </a:prstGeom>
        </p:spPr>
      </p:pic>
      <p:pic>
        <p:nvPicPr>
          <p:cNvPr id="3" name="Picture 2" descr="sen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4215" y="685800"/>
            <a:ext cx="2011680" cy="57251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" y="2743200"/>
            <a:ext cx="1005840" cy="73152"/>
          </a:xfrm>
          <a:prstGeom prst="rect">
            <a:avLst/>
          </a:prstGeom>
          <a:solidFill>
            <a:srgbClr val="E84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926080"/>
            <a:ext cx="10789920" cy="1691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5000" b="1" i="0">
                <a:solidFill>
                  <a:srgbClr val="164194"/>
                </a:solidFill>
                <a:latin typeface="Open Sans"/>
              </a:rPr>
              <a:t>Candelabro: Luz e Decoração</a:t>
            </a:r>
            <a:endParaRPr sz="5000" b="1" i="0">
              <a:latin typeface="Open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468172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200" b="1" i="1">
                <a:solidFill>
                  <a:srgbClr val="164194"/>
                </a:solidFill>
                <a:latin typeface="Open Sans"/>
              </a:rPr>
              <a:t>UC: item de casa</a:t>
            </a:r>
            <a:endParaRPr sz="2200" b="1" i="1">
              <a:latin typeface="Open San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534924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E6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64194"/>
                </a:solidFill>
                <a:latin typeface="Open Sans"/>
              </a:rPr>
              <a:t>candelabro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53492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E6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64194"/>
                </a:solidFill>
                <a:latin typeface="Open Sans"/>
              </a:rPr>
              <a:t>decoração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534924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E6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64194"/>
                </a:solidFill>
                <a:latin typeface="Open Sans"/>
              </a:rPr>
              <a:t>iluminação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534924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E6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64194"/>
                </a:solidFill>
                <a:latin typeface="Open Sans"/>
              </a:rPr>
              <a:t>item de casa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641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748272"/>
            <a:ext cx="2377440" cy="109728"/>
          </a:xfrm>
          <a:prstGeom prst="rect">
            <a:avLst/>
          </a:prstGeom>
          <a:solidFill>
            <a:srgbClr val="E84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457200" cy="1097280"/>
          </a:xfrm>
          <a:custGeom>
            <a:avLst/>
            <a:gdLst/>
            <a:ahLst/>
            <a:cxnLst/>
            <a:rect l="l" t="t" r="r" b="b"/>
            <a:pathLst>
              <a:path w="457200" h="1097280">
                <a:moveTo>
                  <a:pt x="0" y="0"/>
                </a:moveTo>
                <a:lnTo>
                  <a:pt x="457200" y="0"/>
                </a:lnTo>
                <a:lnTo>
                  <a:pt x="457200" y="777240"/>
                </a:lnTo>
                <a:lnTo>
                  <a:pt x="0" y="1097280"/>
                </a:lnTo>
                <a:close/>
              </a:path>
            </a:pathLst>
          </a:custGeom>
          <a:solidFill>
            <a:srgbClr val="E84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777240"/>
            <a:ext cx="457200" cy="868680"/>
          </a:xfrm>
          <a:custGeom>
            <a:avLst/>
            <a:gdLst/>
            <a:ahLst/>
            <a:cxnLst/>
            <a:rect l="l" t="t" r="r" b="b"/>
            <a:pathLst>
              <a:path w="457200" h="868680">
                <a:moveTo>
                  <a:pt x="0" y="320040"/>
                </a:moveTo>
                <a:lnTo>
                  <a:pt x="457200" y="0"/>
                </a:lnTo>
                <a:lnTo>
                  <a:pt x="457200" y="548640"/>
                </a:lnTo>
                <a:lnTo>
                  <a:pt x="0" y="868680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325880"/>
            <a:ext cx="457200" cy="5532120"/>
          </a:xfrm>
          <a:custGeom>
            <a:avLst/>
            <a:gdLst/>
            <a:ahLst/>
            <a:cxnLst/>
            <a:rect l="l" t="t" r="r" b="b"/>
            <a:pathLst>
              <a:path w="457200" h="5532120">
                <a:moveTo>
                  <a:pt x="0" y="320040"/>
                </a:moveTo>
                <a:lnTo>
                  <a:pt x="457200" y="0"/>
                </a:lnTo>
                <a:lnTo>
                  <a:pt x="457200" y="5532120"/>
                </a:lnTo>
                <a:lnTo>
                  <a:pt x="0" y="5532120"/>
                </a:lnTo>
                <a:close/>
              </a:path>
            </a:pathLst>
          </a:custGeom>
          <a:solidFill>
            <a:srgbClr val="1641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n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566928"/>
            <a:ext cx="1463040" cy="4163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2920"/>
            <a:ext cx="877824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64194"/>
                </a:solidFill>
                <a:latin typeface="Open Sans"/>
              </a:rPr>
              <a:t>O que é um candelabro?</a:t>
            </a:r>
            <a:endParaRPr sz="3200" b="1" i="0">
              <a:latin typeface="Open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B6475"/>
                </a:solidFill>
                <a:latin typeface="Open Sans"/>
              </a:rPr>
              <a:t>Suporte para velas: funcional e decorativo</a:t>
            </a:r>
            <a:endParaRPr sz="1500" b="0" i="0">
              <a:latin typeface="Open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59952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 i="1">
                <a:solidFill>
                  <a:srgbClr val="164194"/>
                </a:solidFill>
                <a:latin typeface="Open Sans"/>
              </a:rPr>
              <a:t>Página 2 de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3377184" cy="3383280"/>
          </a:xfrm>
          <a:prstGeom prst="roundRect">
            <a:avLst>
              <a:gd name="adj" fmla="val 3249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121408"/>
            <a:ext cx="822960" cy="822960"/>
          </a:xfrm>
          <a:prstGeom prst="ellipse">
            <a:avLst/>
          </a:prstGeom>
          <a:solidFill>
            <a:srgbClr val="E6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ightbulb_164194_3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101" y="2294229"/>
            <a:ext cx="477316" cy="4773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7280" y="3127248"/>
            <a:ext cx="2874264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4194"/>
                </a:solidFill>
                <a:latin typeface="Open Sans"/>
              </a:rPr>
              <a:t>Origem histórica</a:t>
            </a:r>
            <a:endParaRPr sz="1800" b="1" i="0">
              <a:latin typeface="Open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97280" y="3886200"/>
            <a:ext cx="2874264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475"/>
                </a:solidFill>
                <a:latin typeface="Open Sans"/>
              </a:rPr>
              <a:t>Usado há séculos para iluminar ambientes antes da luz elétrica.</a:t>
            </a:r>
            <a:endParaRPr sz="1300" b="0" i="0">
              <a:latin typeface="Open San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474464" y="1828800"/>
            <a:ext cx="3377184" cy="3383280"/>
          </a:xfrm>
          <a:prstGeom prst="roundRect">
            <a:avLst>
              <a:gd name="adj" fmla="val 3249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48784" y="2121408"/>
            <a:ext cx="822960" cy="822960"/>
          </a:xfrm>
          <a:prstGeom prst="ellipse">
            <a:avLst/>
          </a:prstGeom>
          <a:solidFill>
            <a:srgbClr val="F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ome_E84910_3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1605" y="2294229"/>
            <a:ext cx="477316" cy="4773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48784" y="3127248"/>
            <a:ext cx="2874264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4194"/>
                </a:solidFill>
                <a:latin typeface="Open Sans"/>
              </a:rPr>
              <a:t>Item decorativo</a:t>
            </a:r>
            <a:endParaRPr sz="1800" b="1" i="0">
              <a:latin typeface="Open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48784" y="3886200"/>
            <a:ext cx="2874264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475"/>
                </a:solidFill>
                <a:latin typeface="Open Sans"/>
              </a:rPr>
              <a:t>Hoje é peça de decoração em salas, mesas e ambientes externos.</a:t>
            </a:r>
            <a:endParaRPr sz="1300" b="0" i="0">
              <a:latin typeface="Open San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125968" y="1828800"/>
            <a:ext cx="3377184" cy="3383280"/>
          </a:xfrm>
          <a:prstGeom prst="roundRect">
            <a:avLst>
              <a:gd name="adj" fmla="val 3249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00288" y="2121408"/>
            <a:ext cx="822960" cy="822960"/>
          </a:xfrm>
          <a:prstGeom prst="ellipse">
            <a:avLst/>
          </a:prstGeom>
          <a:solidFill>
            <a:srgbClr val="E6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alette_164194_38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3109" y="2294229"/>
            <a:ext cx="477316" cy="47731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400288" y="3127248"/>
            <a:ext cx="2874264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4194"/>
                </a:solidFill>
                <a:latin typeface="Open Sans"/>
              </a:rPr>
              <a:t>Materiais variados</a:t>
            </a:r>
            <a:endParaRPr sz="1800" b="1" i="0">
              <a:latin typeface="Open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400288" y="3886200"/>
            <a:ext cx="2874264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475"/>
                </a:solidFill>
                <a:latin typeface="Open Sans"/>
              </a:rPr>
              <a:t>Ferro, vidro, madeira, cristal e cerâmica são os mais comuns.</a:t>
            </a:r>
            <a:endParaRPr sz="1300" b="0" i="0">
              <a:latin typeface="Open San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22960" y="5532120"/>
            <a:ext cx="10680192" cy="640080"/>
          </a:xfrm>
          <a:prstGeom prst="roundRect">
            <a:avLst>
              <a:gd name="adj" fmla="val 18000"/>
            </a:avLst>
          </a:prstGeom>
          <a:solidFill>
            <a:srgbClr val="1641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lightbulb_FFFFFF_38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5678424"/>
            <a:ext cx="347472" cy="34747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00200" y="5605272"/>
            <a:ext cx="9674352" cy="4937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Open Sans"/>
              </a:rPr>
              <a:t>Do utilitário ao ornamental em séculos de história.</a:t>
            </a:r>
            <a:endParaRPr sz="1500" b="1" i="0">
              <a:latin typeface="Open Sans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457200" cy="1097280"/>
          </a:xfrm>
          <a:custGeom>
            <a:avLst/>
            <a:gdLst/>
            <a:ahLst/>
            <a:cxnLst/>
            <a:rect l="l" t="t" r="r" b="b"/>
            <a:pathLst>
              <a:path w="457200" h="1097280">
                <a:moveTo>
                  <a:pt x="0" y="0"/>
                </a:moveTo>
                <a:lnTo>
                  <a:pt x="457200" y="0"/>
                </a:lnTo>
                <a:lnTo>
                  <a:pt x="457200" y="777240"/>
                </a:lnTo>
                <a:lnTo>
                  <a:pt x="0" y="1097280"/>
                </a:lnTo>
                <a:close/>
              </a:path>
            </a:pathLst>
          </a:custGeom>
          <a:solidFill>
            <a:srgbClr val="E84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777240"/>
            <a:ext cx="457200" cy="868680"/>
          </a:xfrm>
          <a:custGeom>
            <a:avLst/>
            <a:gdLst/>
            <a:ahLst/>
            <a:cxnLst/>
            <a:rect l="l" t="t" r="r" b="b"/>
            <a:pathLst>
              <a:path w="457200" h="868680">
                <a:moveTo>
                  <a:pt x="0" y="320040"/>
                </a:moveTo>
                <a:lnTo>
                  <a:pt x="457200" y="0"/>
                </a:lnTo>
                <a:lnTo>
                  <a:pt x="457200" y="548640"/>
                </a:lnTo>
                <a:lnTo>
                  <a:pt x="0" y="868680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325880"/>
            <a:ext cx="457200" cy="5532120"/>
          </a:xfrm>
          <a:custGeom>
            <a:avLst/>
            <a:gdLst/>
            <a:ahLst/>
            <a:cxnLst/>
            <a:rect l="l" t="t" r="r" b="b"/>
            <a:pathLst>
              <a:path w="457200" h="5532120">
                <a:moveTo>
                  <a:pt x="0" y="320040"/>
                </a:moveTo>
                <a:lnTo>
                  <a:pt x="457200" y="0"/>
                </a:lnTo>
                <a:lnTo>
                  <a:pt x="457200" y="5532120"/>
                </a:lnTo>
                <a:lnTo>
                  <a:pt x="0" y="5532120"/>
                </a:lnTo>
                <a:close/>
              </a:path>
            </a:pathLst>
          </a:custGeom>
          <a:solidFill>
            <a:srgbClr val="1641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n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566928"/>
            <a:ext cx="1463040" cy="4163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2920"/>
            <a:ext cx="877824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64194"/>
                </a:solidFill>
                <a:latin typeface="Open Sans"/>
              </a:rPr>
              <a:t>Tipos de candelabro</a:t>
            </a:r>
            <a:endParaRPr sz="3200" b="1" i="0">
              <a:latin typeface="Open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B6475"/>
                </a:solidFill>
                <a:latin typeface="Open Sans"/>
              </a:rPr>
              <a:t>Classifique pelo número de braços e pelo uso</a:t>
            </a:r>
            <a:endParaRPr sz="1500" b="0" i="0">
              <a:latin typeface="Open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59952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 i="1">
                <a:solidFill>
                  <a:srgbClr val="164194"/>
                </a:solidFill>
                <a:latin typeface="Open Sans"/>
              </a:rPr>
              <a:t>Página 3 de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5157216" cy="640080"/>
          </a:xfrm>
          <a:prstGeom prst="roundRect">
            <a:avLst>
              <a:gd name="adj" fmla="val 15000"/>
            </a:avLst>
          </a:prstGeom>
          <a:solidFill>
            <a:srgbClr val="1641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01952"/>
            <a:ext cx="4608576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Braço único (castiçal)</a:t>
            </a:r>
            <a:endParaRPr sz="1800" b="1" i="0">
              <a:latin typeface="Open San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157216" cy="3566160"/>
          </a:xfrm>
          <a:prstGeom prst="roundRect">
            <a:avLst>
              <a:gd name="adj" fmla="val 3076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heck_circle_164194_3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825496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36192" y="2788920"/>
            <a:ext cx="4197096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E2A44"/>
                </a:solidFill>
                <a:latin typeface="Open Sans"/>
              </a:rPr>
              <a:t>Suporta uma vela</a:t>
            </a:r>
            <a:endParaRPr sz="1400" b="0" i="0">
              <a:latin typeface="Open Sans"/>
            </a:endParaRPr>
          </a:p>
        </p:txBody>
      </p:sp>
      <p:pic>
        <p:nvPicPr>
          <p:cNvPr id="14" name="Picture 13" descr="check_circle_164194_3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483864"/>
            <a:ext cx="274320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536192" y="3447288"/>
            <a:ext cx="4197096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E2A44"/>
                </a:solidFill>
                <a:latin typeface="Open Sans"/>
              </a:rPr>
              <a:t>Compacto e versátil</a:t>
            </a:r>
            <a:endParaRPr sz="1400" b="0" i="0">
              <a:latin typeface="Open Sans"/>
            </a:endParaRPr>
          </a:p>
        </p:txBody>
      </p:sp>
      <p:pic>
        <p:nvPicPr>
          <p:cNvPr id="16" name="Picture 15" descr="check_circle_164194_3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142232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36192" y="4105656"/>
            <a:ext cx="4197096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E2A44"/>
                </a:solidFill>
                <a:latin typeface="Open Sans"/>
              </a:rPr>
              <a:t>Ideal para mesas e prateleiras</a:t>
            </a:r>
            <a:endParaRPr sz="1400" b="0" i="0">
              <a:latin typeface="Open Sans"/>
            </a:endParaRPr>
          </a:p>
        </p:txBody>
      </p:sp>
      <p:pic>
        <p:nvPicPr>
          <p:cNvPr id="18" name="Picture 17" descr="check_circle_164194_3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800600"/>
            <a:ext cx="27432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36192" y="4764024"/>
            <a:ext cx="4197096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E2A44"/>
                </a:solidFill>
                <a:latin typeface="Open Sans"/>
              </a:rPr>
              <a:t>Fácil de transportar</a:t>
            </a:r>
            <a:endParaRPr sz="1400" b="0" i="0">
              <a:latin typeface="Open Sans"/>
            </a:endParaRPr>
          </a:p>
        </p:txBody>
      </p:sp>
      <p:pic>
        <p:nvPicPr>
          <p:cNvPr id="20" name="Picture 19" descr="check_circle_164194_3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5458968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36192" y="5422392"/>
            <a:ext cx="4197096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E2A44"/>
                </a:solidFill>
                <a:latin typeface="Open Sans"/>
              </a:rPr>
              <a:t>Visual minimalista</a:t>
            </a:r>
            <a:endParaRPr sz="1400" b="0" i="0">
              <a:latin typeface="Open San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345936" y="1828800"/>
            <a:ext cx="5157216" cy="640080"/>
          </a:xfrm>
          <a:prstGeom prst="roundRect">
            <a:avLst>
              <a:gd name="adj" fmla="val 15000"/>
            </a:avLst>
          </a:prstGeom>
          <a:solidFill>
            <a:srgbClr val="E84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6" y="1901952"/>
            <a:ext cx="4608576" cy="4937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Open Sans"/>
              </a:rPr>
              <a:t>Múltiplos braços</a:t>
            </a:r>
            <a:endParaRPr sz="1800" b="1" i="0">
              <a:latin typeface="Open San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45936" y="2606040"/>
            <a:ext cx="5157216" cy="3566160"/>
          </a:xfrm>
          <a:prstGeom prst="roundRect">
            <a:avLst>
              <a:gd name="adj" fmla="val 3076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_circle_E84910_3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2825496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059168" y="2788920"/>
            <a:ext cx="4197096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E2A44"/>
                </a:solidFill>
                <a:latin typeface="Open Sans"/>
              </a:rPr>
              <a:t>2 a 9 ou mais braços</a:t>
            </a:r>
            <a:endParaRPr sz="1400" b="0" i="0">
              <a:latin typeface="Open Sans"/>
            </a:endParaRPr>
          </a:p>
        </p:txBody>
      </p:sp>
      <p:pic>
        <p:nvPicPr>
          <p:cNvPr id="27" name="Picture 26" descr="check_circle_E84910_3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3483864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059168" y="3447288"/>
            <a:ext cx="4197096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E2A44"/>
                </a:solidFill>
                <a:latin typeface="Open Sans"/>
              </a:rPr>
              <a:t>Maior impacto visual</a:t>
            </a:r>
            <a:endParaRPr sz="1400" b="0" i="0">
              <a:latin typeface="Open Sans"/>
            </a:endParaRPr>
          </a:p>
        </p:txBody>
      </p:sp>
      <p:pic>
        <p:nvPicPr>
          <p:cNvPr id="29" name="Picture 28" descr="check_circle_E84910_3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4142232"/>
            <a:ext cx="274320" cy="274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059168" y="4105656"/>
            <a:ext cx="4197096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E2A44"/>
                </a:solidFill>
                <a:latin typeface="Open Sans"/>
              </a:rPr>
              <a:t>Indicado para centros de mesa</a:t>
            </a:r>
            <a:endParaRPr sz="1400" b="0" i="0">
              <a:latin typeface="Open Sans"/>
            </a:endParaRPr>
          </a:p>
        </p:txBody>
      </p:sp>
      <p:pic>
        <p:nvPicPr>
          <p:cNvPr id="31" name="Picture 30" descr="check_circle_E84910_3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4800600"/>
            <a:ext cx="274320" cy="274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059168" y="4764024"/>
            <a:ext cx="4197096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E2A44"/>
                </a:solidFill>
                <a:latin typeface="Open Sans"/>
              </a:rPr>
              <a:t>Exige mais espaço</a:t>
            </a:r>
            <a:endParaRPr sz="1400" b="0" i="0">
              <a:latin typeface="Open Sans"/>
            </a:endParaRPr>
          </a:p>
        </p:txBody>
      </p:sp>
      <p:pic>
        <p:nvPicPr>
          <p:cNvPr id="33" name="Picture 32" descr="check_circle_E84910_3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5458968"/>
            <a:ext cx="274320" cy="2743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059168" y="5422392"/>
            <a:ext cx="4197096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E2A44"/>
                </a:solidFill>
                <a:latin typeface="Open Sans"/>
              </a:rPr>
              <a:t>Estilo clássico ou moderno</a:t>
            </a:r>
            <a:endParaRPr sz="1400" b="0" i="0">
              <a:latin typeface="Open Sans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457200" cy="1097280"/>
          </a:xfrm>
          <a:custGeom>
            <a:avLst/>
            <a:gdLst/>
            <a:ahLst/>
            <a:cxnLst/>
            <a:rect l="l" t="t" r="r" b="b"/>
            <a:pathLst>
              <a:path w="457200" h="1097280">
                <a:moveTo>
                  <a:pt x="0" y="0"/>
                </a:moveTo>
                <a:lnTo>
                  <a:pt x="457200" y="0"/>
                </a:lnTo>
                <a:lnTo>
                  <a:pt x="457200" y="777240"/>
                </a:lnTo>
                <a:lnTo>
                  <a:pt x="0" y="1097280"/>
                </a:lnTo>
                <a:close/>
              </a:path>
            </a:pathLst>
          </a:custGeom>
          <a:solidFill>
            <a:srgbClr val="E84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777240"/>
            <a:ext cx="457200" cy="868680"/>
          </a:xfrm>
          <a:custGeom>
            <a:avLst/>
            <a:gdLst/>
            <a:ahLst/>
            <a:cxnLst/>
            <a:rect l="l" t="t" r="r" b="b"/>
            <a:pathLst>
              <a:path w="457200" h="868680">
                <a:moveTo>
                  <a:pt x="0" y="320040"/>
                </a:moveTo>
                <a:lnTo>
                  <a:pt x="457200" y="0"/>
                </a:lnTo>
                <a:lnTo>
                  <a:pt x="457200" y="548640"/>
                </a:lnTo>
                <a:lnTo>
                  <a:pt x="0" y="868680"/>
                </a:lnTo>
                <a:close/>
              </a:path>
            </a:pathLst>
          </a:custGeom>
          <a:solidFill>
            <a:srgbClr val="CDCD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1325880"/>
            <a:ext cx="457200" cy="5532120"/>
          </a:xfrm>
          <a:custGeom>
            <a:avLst/>
            <a:gdLst/>
            <a:ahLst/>
            <a:cxnLst/>
            <a:rect l="l" t="t" r="r" b="b"/>
            <a:pathLst>
              <a:path w="457200" h="5532120">
                <a:moveTo>
                  <a:pt x="0" y="320040"/>
                </a:moveTo>
                <a:lnTo>
                  <a:pt x="457200" y="0"/>
                </a:lnTo>
                <a:lnTo>
                  <a:pt x="457200" y="5532120"/>
                </a:lnTo>
                <a:lnTo>
                  <a:pt x="0" y="5532120"/>
                </a:lnTo>
                <a:close/>
              </a:path>
            </a:pathLst>
          </a:custGeom>
          <a:solidFill>
            <a:srgbClr val="1641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n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566928"/>
            <a:ext cx="1463040" cy="4163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2920"/>
            <a:ext cx="877824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64194"/>
                </a:solidFill>
                <a:latin typeface="Open Sans"/>
              </a:rPr>
              <a:t>Como usar bem um candelabro</a:t>
            </a:r>
            <a:endParaRPr sz="3200" b="1" i="0">
              <a:latin typeface="Open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B6475"/>
                </a:solidFill>
                <a:latin typeface="Open Sans"/>
              </a:rPr>
              <a:t>Dicas práticas de posicionamento e segurança</a:t>
            </a:r>
            <a:endParaRPr sz="1500" b="0" i="0">
              <a:latin typeface="Open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59952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 i="1">
                <a:solidFill>
                  <a:srgbClr val="164194"/>
                </a:solidFill>
                <a:latin typeface="Open Sans"/>
              </a:rPr>
              <a:t>Página 4 de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03120"/>
            <a:ext cx="2464308" cy="1874519"/>
          </a:xfrm>
          <a:prstGeom prst="roundRect">
            <a:avLst>
              <a:gd name="adj" fmla="val 5853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89354" y="2377439"/>
            <a:ext cx="731520" cy="731520"/>
          </a:xfrm>
          <a:prstGeom prst="ellipse">
            <a:avLst/>
          </a:prstGeom>
          <a:solidFill>
            <a:srgbClr val="E6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cation_on_164194_3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2973" y="2531059"/>
            <a:ext cx="424281" cy="42428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218687"/>
            <a:ext cx="2281427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64194"/>
                </a:solidFill>
                <a:latin typeface="Open Sans"/>
              </a:rPr>
              <a:t>Escolha o local</a:t>
            </a:r>
            <a:endParaRPr sz="1400" b="1" i="0">
              <a:latin typeface="Open San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994660" y="1975103"/>
            <a:ext cx="365760" cy="365760"/>
          </a:xfrm>
          <a:prstGeom prst="ellipse">
            <a:avLst/>
          </a:prstGeom>
          <a:solidFill>
            <a:srgbClr val="1641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20" b="1">
                <a:solidFill>
                  <a:srgbClr val="FFFFFF"/>
                </a:solidFill>
                <a:latin typeface="Open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14800"/>
            <a:ext cx="246430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5B6475"/>
                </a:solidFill>
                <a:latin typeface="Open Sans"/>
              </a:rPr>
              <a:t>Superfície estável, longe de cortinas e materiais inflamáveis.</a:t>
            </a:r>
            <a:endParaRPr sz="1200" b="0" i="0">
              <a:latin typeface="Open Sans"/>
            </a:endParaRPr>
          </a:p>
        </p:txBody>
      </p:sp>
      <p:pic>
        <p:nvPicPr>
          <p:cNvPr id="15" name="Picture 14" descr="arrow_forward_5B6475_3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5556" y="2921508"/>
            <a:ext cx="237744" cy="23774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561587" y="2103120"/>
            <a:ext cx="2464308" cy="1874519"/>
          </a:xfrm>
          <a:prstGeom prst="roundRect">
            <a:avLst>
              <a:gd name="adj" fmla="val 5853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27981" y="2377439"/>
            <a:ext cx="731520" cy="731520"/>
          </a:xfrm>
          <a:prstGeom prst="ellipse">
            <a:avLst/>
          </a:prstGeom>
          <a:solidFill>
            <a:srgbClr val="F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ule_E84910_38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601" y="2531059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653027" y="3218687"/>
            <a:ext cx="2281427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64194"/>
                </a:solidFill>
                <a:latin typeface="Open Sans"/>
              </a:rPr>
              <a:t>Verifique a vela</a:t>
            </a:r>
            <a:endParaRPr sz="1400" b="1" i="0">
              <a:latin typeface="Open San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5733288" y="1975103"/>
            <a:ext cx="365760" cy="365760"/>
          </a:xfrm>
          <a:prstGeom prst="ellipse">
            <a:avLst/>
          </a:prstGeom>
          <a:solidFill>
            <a:srgbClr val="E84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20" b="1">
                <a:solidFill>
                  <a:srgbClr val="FFFFFF"/>
                </a:solidFill>
                <a:latin typeface="Open San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1587" y="4114800"/>
            <a:ext cx="246430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5B6475"/>
                </a:solidFill>
                <a:latin typeface="Open Sans"/>
              </a:rPr>
              <a:t>Use velas do diâmetro certo; apare o pavio a 1 cm.</a:t>
            </a:r>
            <a:endParaRPr sz="1200" b="0" i="0">
              <a:latin typeface="Open Sans"/>
            </a:endParaRPr>
          </a:p>
        </p:txBody>
      </p:sp>
      <p:pic>
        <p:nvPicPr>
          <p:cNvPr id="22" name="Picture 21" descr="arrow_forward_5B6475_3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183" y="2921508"/>
            <a:ext cx="237744" cy="237744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300216" y="2103120"/>
            <a:ext cx="2464308" cy="1874519"/>
          </a:xfrm>
          <a:prstGeom prst="roundRect">
            <a:avLst>
              <a:gd name="adj" fmla="val 5853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66609" y="2377439"/>
            <a:ext cx="731520" cy="731520"/>
          </a:xfrm>
          <a:prstGeom prst="ellipse">
            <a:avLst/>
          </a:prstGeom>
          <a:solidFill>
            <a:srgbClr val="E6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tips_and_updates_164194_38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0229" y="2531059"/>
            <a:ext cx="424281" cy="42428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91655" y="3218687"/>
            <a:ext cx="2281427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64194"/>
                </a:solidFill>
                <a:latin typeface="Open Sans"/>
              </a:rPr>
              <a:t>Acenda com cuidado</a:t>
            </a:r>
            <a:endParaRPr sz="1400" b="1" i="0">
              <a:latin typeface="Open San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8471915" y="1975103"/>
            <a:ext cx="365760" cy="365760"/>
          </a:xfrm>
          <a:prstGeom prst="ellipse">
            <a:avLst/>
          </a:prstGeom>
          <a:solidFill>
            <a:srgbClr val="1641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20" b="1">
                <a:solidFill>
                  <a:srgbClr val="FFFFFF"/>
                </a:solidFill>
                <a:latin typeface="Open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4114800"/>
            <a:ext cx="246430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5B6475"/>
                </a:solidFill>
                <a:latin typeface="Open Sans"/>
              </a:rPr>
              <a:t>Use acendedor longo; evite soprar próximo a superfícies.</a:t>
            </a:r>
            <a:endParaRPr sz="1200" b="0" i="0">
              <a:latin typeface="Open Sans"/>
            </a:endParaRPr>
          </a:p>
        </p:txBody>
      </p:sp>
      <p:pic>
        <p:nvPicPr>
          <p:cNvPr id="29" name="Picture 28" descr="arrow_forward_5B6475_3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2811" y="2921508"/>
            <a:ext cx="237744" cy="23774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9038844" y="2103120"/>
            <a:ext cx="2464308" cy="1874519"/>
          </a:xfrm>
          <a:prstGeom prst="roundRect">
            <a:avLst>
              <a:gd name="adj" fmla="val 5853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05238" y="2377439"/>
            <a:ext cx="731520" cy="731520"/>
          </a:xfrm>
          <a:prstGeom prst="ellipse">
            <a:avLst/>
          </a:prstGeom>
          <a:solidFill>
            <a:srgbClr val="FDE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health_and_safety_E84910_38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857" y="2531059"/>
            <a:ext cx="424281" cy="42428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130284" y="3218687"/>
            <a:ext cx="2281427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64194"/>
                </a:solidFill>
                <a:latin typeface="Open Sans"/>
              </a:rPr>
              <a:t>Nunca deixe sem vigilância</a:t>
            </a:r>
            <a:endParaRPr sz="1400" b="1" i="0">
              <a:latin typeface="Open Sans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11210544" y="1975103"/>
            <a:ext cx="365760" cy="365760"/>
          </a:xfrm>
          <a:prstGeom prst="ellipse">
            <a:avLst/>
          </a:prstGeom>
          <a:solidFill>
            <a:srgbClr val="E849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20" b="1">
                <a:solidFill>
                  <a:srgbClr val="FFFFFF"/>
                </a:solidFill>
                <a:latin typeface="Open San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38844" y="4114800"/>
            <a:ext cx="246430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5B6475"/>
                </a:solidFill>
                <a:latin typeface="Open Sans"/>
              </a:rPr>
              <a:t>Apague antes de sair do cômodo ou dormir.</a:t>
            </a:r>
            <a:endParaRPr sz="1200" b="0" i="0">
              <a:latin typeface="Open San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22960" y="5532120"/>
            <a:ext cx="10680192" cy="640080"/>
          </a:xfrm>
          <a:prstGeom prst="roundRect">
            <a:avLst>
              <a:gd name="adj" fmla="val 18000"/>
            </a:avLst>
          </a:prstGeom>
          <a:solidFill>
            <a:srgbClr val="1641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bolt_FFFFFF_38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7280" y="5678424"/>
            <a:ext cx="347472" cy="34747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600200" y="5605272"/>
            <a:ext cx="9674352" cy="4937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Open Sans"/>
              </a:rPr>
              <a:t>Beleza e segurança devem andar juntas.</a:t>
            </a:r>
            <a:endParaRPr sz="1500" b="1" i="0">
              <a:latin typeface="Open Sans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undo_azul_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enai_br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788920"/>
            <a:ext cx="4206240" cy="119707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95847" y="1783080"/>
            <a:ext cx="18288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98767" y="16002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Open Sans"/>
              </a:rPr>
              <a:t>Obrigado!</a:t>
            </a:r>
          </a:p>
        </p:txBody>
      </p:sp>
      <p:pic>
        <p:nvPicPr>
          <p:cNvPr id="6" name="Picture 5" descr="location_on_FFFFFF_3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767" y="2578608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55967" y="2560320"/>
            <a:ext cx="48463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Open Sans"/>
              </a:rPr>
              <a:t>Rodovia Admar Gonzaga, 2765 | Itacorubi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Open Sans"/>
              </a:rPr>
              <a:t>88034-001 | Florianópolis - SC</a:t>
            </a:r>
          </a:p>
        </p:txBody>
      </p:sp>
      <p:pic>
        <p:nvPicPr>
          <p:cNvPr id="8" name="Picture 7" descr="language_E84910_38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8767" y="3383279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55967" y="3364991"/>
            <a:ext cx="48463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1">
                <a:solidFill>
                  <a:srgbClr val="FFFFFF"/>
                </a:solidFill>
                <a:latin typeface="Open Sans"/>
              </a:rPr>
              <a:t>sc.senai.br</a:t>
            </a:r>
          </a:p>
        </p:txBody>
      </p:sp>
      <p:pic>
        <p:nvPicPr>
          <p:cNvPr id="10" name="Picture 9" descr="mail_FFFFFF_38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8767" y="3886199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55967" y="3867911"/>
            <a:ext cx="48463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Open Sans"/>
              </a:rPr>
              <a:t>faleconosco@fiesc.com.br</a:t>
            </a:r>
          </a:p>
        </p:txBody>
      </p:sp>
      <p:pic>
        <p:nvPicPr>
          <p:cNvPr id="12" name="Picture 11" descr="call_FFFFFF_38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8767" y="4389119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55967" y="4370831"/>
            <a:ext cx="484632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Open Sans"/>
              </a:rPr>
              <a:t>(48) 3231 4100  ·  0800 048 1212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6355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 i="1">
                <a:solidFill>
                  <a:srgbClr val="FFFFFF"/>
                </a:solidFill>
                <a:latin typeface="Open Sans"/>
              </a:rPr>
              <a:t>Página 5 de 5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